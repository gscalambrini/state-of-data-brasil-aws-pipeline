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E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· Tech Challenge Fase 3 · State of Data Brasil 2023-2026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Brasileiro de Dados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Inteligência Artificial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2023-2026 e recomendações estratégicas para expansão em Dados, Analytics e IA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uma Instituição Financeira · Consultoria em Big Data &amp; Analytics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· Tech Challenge Fase 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metodologia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0F10"/>
                </a:solidFill>
              </a:rPr>
              <a:t>O desafio de negócio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2514E"/>
                </a:solidFill>
              </a:rPr>
              <a:t>Uma Instituição Financeira de grande porte quer expandir sua área de Dados, Analytics e IA, mas precisa primeiro entender o mercado brasileiro para definir contratação, capacitação e investimento em tecnologia.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0F10"/>
                </a:solidFill>
              </a:rPr>
              <a:t>A base de dados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2514E"/>
                </a:solidFill>
              </a:rPr>
              <a:t>Pesquisa State of Data Brasil (comunidade Data Hackers), últimas 3 edições — cada uma com um schema de perguntas diferente, harmonizadas num pipeline próprio em nuvem.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13.057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2331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 analisados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6517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da pesquisa (2023 a 2026)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3749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4526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Glue (Spark) · Athena — pipeline Bronze/Silver/Gold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 na AWS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diagrams\arquitetura_solu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11094415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estruturado o mercado brasileiro de Dados?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presentation\charts\01_perfil_carg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4023360"/>
          </a:xfrm>
          <a:prstGeom prst="rect">
            <a:avLst/>
          </a:prstGeom>
        </p:spPr>
      </p:pic>
      <p:pic>
        <p:nvPicPr>
          <p:cNvPr id="4" name="Image 1" descr="C:\Users\GustavoScalambrini\OneDrive - E-VAL\Área de Trabalho\tech_challenge_fase_3\presentation\charts\02_perfil_regia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71600"/>
            <a:ext cx="5303520" cy="26517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0" y="42062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DE7EE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537960" y="4370832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dos profissionais de Dados estão no Sudeste — forte concentração geográfica, uma oportunidade para quem adota trabalho remoto.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perfis profissionais são mais valorizados pelo mercado?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presentation\charts\04_salario_por_car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49808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20116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DE7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2176272"/>
            <a:ext cx="29260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ML/AI Engineer é o cargo mais bem pago entre os mais comuns: ~R$ 16,4 mil/mês em média.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0" y="4023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DE7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58200" y="4187952"/>
            <a:ext cx="29260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técnicos avançados (ML/IA, Engenharia de Dados) pagam mais que perfis de análise tradicionais.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cenário de diversidade de gênero nas carreiras de dados?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presentation\charts\05_diversidade_genero_seniorid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4206240"/>
          </a:xfrm>
          <a:prstGeom prst="rect">
            <a:avLst/>
          </a:prstGeom>
        </p:spPr>
      </p:pic>
      <p:pic>
        <p:nvPicPr>
          <p:cNvPr id="4" name="Image 1" descr="C:\Users\GustavoScalambrini\OneDrive - E-VAL\Área de Trabalho\tech_challenge_fase_3\presentation\charts\06_gap_salarial_gen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71600"/>
            <a:ext cx="5303520" cy="4206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E7EE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77240" y="5879592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23,9% dos profissionais são mulheres, participação que cai de 28% (Júnior) para 20% (Especialista/Staff+) — e no nível Sênior mulheres ganham 15% menos que homens.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tecnologias têm maior adoção no mercado?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presentation\charts\07_tecnologias_adocao_pai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1106424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ultrapassa SQL como linguagem mais usada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presentation\charts\08_evolucao_linguage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49808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21945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DE7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2359152"/>
            <a:ext cx="2926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saiu de 49% (2023) para 55% (2025) de adoção; SQL caiu de 55% para 50% — Python assume a liderança entre 2024 e 2025. Sinal claro para onde direcionar capacitação técnica.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índice de adoção de Inteligência Artificial e seu impacto?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presentation\charts\09_adocao_ia_e_priorid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11064240" cy="3200400"/>
          </a:xfrm>
          <a:prstGeom prst="rect">
            <a:avLst/>
          </a:prstGeom>
        </p:spPr>
      </p:pic>
      <p:pic>
        <p:nvPicPr>
          <p:cNvPr id="4" name="Image 1" descr="C:\Users\GustavoScalambrini\OneDrive - E-VAL\Área de Trabalho\tech_challenge_fase_3\presentation\charts\10_gap_individual_vs_empresa_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4572000"/>
            <a:ext cx="3035808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por região, senioridade e modelo de trabalho</a:t>
            </a:r>
            <a:endParaRPr lang="en-US" sz="2800" dirty="0"/>
          </a:p>
        </p:txBody>
      </p:sp>
      <p:pic>
        <p:nvPicPr>
          <p:cNvPr id="3" name="Image 0" descr="C:\Users\GustavoScalambrini\OneDrive - E-VAL\Área de Trabalho\tech_challenge_fase_3\presentation\charts\11_salario_regiao_modelo_trabalh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1106424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7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742432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Sudeste paga 36% a mais que o Nordeste em média — o modelo de trabalho remoto é a ponte para acessar talento qualificado fora dos grandes centros, sem pagar o prêmio salarial regional.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Oportunidades, desafios e recomendações estratégicas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24151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9202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6060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uma estratégia de IA Generativa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657600"/>
            <a:ext cx="2203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dos profissionais já usam IA no dia a dia, mas só ~1 em cada 4 empresas trata isso como prioridade executiva. Quem formalizar a estratégia primeiro sai na frente.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2415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84448" y="19202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6060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Invista em equidade de gênero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3657600"/>
            <a:ext cx="2203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participação feminina cai de 28% para 20% do Júnior ao topo da carreira, com 15% de gap salarial no nível Sênior — ampliar e reter esse talento é vantagem competitiva na contratação.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2415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19202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26060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Adote trabalho remoto para contratar fora do Sudeste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3657600"/>
            <a:ext cx="2203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do talento e os maiores salários estão concentrados no Sudeste — o modelo remoto abre acesso a profissionais qualificados em outras regiões, a custo menor.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173736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24151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53728" y="19202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253728" y="26060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Direcione capacitação para Python e Engenharia de Dados/ML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3657600"/>
            <a:ext cx="2203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já ultrapassou SQL como linguagem principal, e os cargos de Engenharia de Dados e ML/AI Engineering são os mais bem remunerados do mercado.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construído na AWS (S3 · Glue · Athena) é extensível: a cada nova edição da pesquisa, basta rodar os mesmos notebooks para atualizar automaticamente todos os indicadores deste material.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em Big Data &amp; Analytics · FIAP · Tech Challenge Fase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AP - State of Data Brasil">
  <a:themeElements>
    <a:clrScheme name="FIAP - State of Data Brasil">
      <a:dk1>
        <a:srgbClr val="0E0F10"/>
      </a:dk1>
      <a:lt1>
        <a:srgbClr val="FFFFFF"/>
      </a:lt1>
      <a:dk2>
        <a:srgbClr val="181818"/>
      </a:dk2>
      <a:lt2>
        <a:srgbClr val="FDE7EE"/>
      </a:lt2>
      <a:accent1>
        <a:srgbClr val="ED145B"/>
      </a:accent1>
      <a:accent2>
        <a:srgbClr val="2A78D6"/>
      </a:accent2>
      <a:accent3>
        <a:srgbClr val="008300"/>
      </a:accent3>
      <a:accent4>
        <a:srgbClr val="EDA100"/>
      </a:accent4>
      <a:accent5>
        <a:srgbClr val="6250D6"/>
      </a:accent5>
      <a:accent6>
        <a:srgbClr val="75838B"/>
      </a:accent6>
      <a:hlink>
        <a:srgbClr val="ED145B"/>
      </a:hlink>
      <a:folHlink>
        <a:srgbClr val="6250D6"/>
      </a:folHlink>
    </a:clrScheme>
    <a:fontScheme name="FIAP - State of Data Brasi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Tech Challenge Fase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Mercado Brasileiro de Dados e Inteligencia Artificial</dc:title>
  <dc:subject>PptxGenJS Presentation</dc:subject>
  <dc:creator>Consultoria em Dados</dc:creator>
  <cp:lastModifiedBy>Consultoria em Dados</cp:lastModifiedBy>
  <cp:revision>1</cp:revision>
  <dcterms:created xsi:type="dcterms:W3CDTF">2026-10-19T20:12:55Z</dcterms:created>
  <dcterms:modified xsi:type="dcterms:W3CDTF">2026-10-19T20:12:55Z</dcterms:modified>
</cp:coreProperties>
</file>